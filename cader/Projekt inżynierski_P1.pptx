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71" r:id="rId3"/>
    <p:sldId id="272" r:id="rId4"/>
    <p:sldId id="274" r:id="rId5"/>
    <p:sldId id="273" r:id="rId6"/>
    <p:sldId id="297" r:id="rId7"/>
    <p:sldId id="296" r:id="rId8"/>
    <p:sldId id="295" r:id="rId9"/>
    <p:sldId id="275" r:id="rId10"/>
    <p:sldId id="259" r:id="rId11"/>
    <p:sldId id="265" r:id="rId12"/>
    <p:sldId id="268" r:id="rId13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AE89-D25A-4A67-AEBE-4E42F37C1669}" type="datetimeFigureOut">
              <a:rPr lang="pl-PL" smtClean="0"/>
              <a:pPr/>
              <a:t>26.02.2026</a:t>
            </a:fld>
            <a:endParaRPr lang="pl-PL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7AAF33-2ED2-4782-A1C3-EE4E52217266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76AE89-D25A-4A67-AEBE-4E42F37C1669}" type="datetimeFigureOut">
              <a:rPr lang="pl-PL" smtClean="0"/>
              <a:pPr/>
              <a:t>26.02.2026</a:t>
            </a:fld>
            <a:endParaRPr lang="pl-PL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5A7AAF33-2ED2-4782-A1C3-EE4E52217266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AE89-D25A-4A67-AEBE-4E42F37C1669}" type="datetimeFigureOut">
              <a:rPr lang="pl-PL" smtClean="0"/>
              <a:pPr/>
              <a:t>26.02.2026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AF33-2ED2-4782-A1C3-EE4E52217266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AE89-D25A-4A67-AEBE-4E42F37C1669}" type="datetimeFigureOut">
              <a:rPr lang="pl-PL" smtClean="0"/>
              <a:pPr/>
              <a:t>26.02.2026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AF33-2ED2-4782-A1C3-EE4E52217266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AF33-2ED2-4782-A1C3-EE4E52217266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AE89-D25A-4A67-AEBE-4E42F37C1669}" type="datetimeFigureOut">
              <a:rPr lang="pl-PL" smtClean="0"/>
              <a:pPr/>
              <a:t>26.02.2026</a:t>
            </a:fld>
            <a:endParaRPr lang="pl-P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AE89-D25A-4A67-AEBE-4E42F37C1669}" type="datetimeFigureOut">
              <a:rPr lang="pl-PL" smtClean="0"/>
              <a:pPr/>
              <a:t>26.02.2026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AF33-2ED2-4782-A1C3-EE4E52217266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AE89-D25A-4A67-AEBE-4E42F37C1669}" type="datetimeFigureOut">
              <a:rPr lang="pl-PL" smtClean="0"/>
              <a:pPr/>
              <a:t>26.02.2026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AF33-2ED2-4782-A1C3-EE4E5221726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76AE89-D25A-4A67-AEBE-4E42F37C1669}" type="datetimeFigureOut">
              <a:rPr lang="pl-PL" smtClean="0"/>
              <a:pPr/>
              <a:t>26.02.2026</a:t>
            </a:fld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A7AAF33-2ED2-4782-A1C3-EE4E52217266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AE89-D25A-4A67-AEBE-4E42F37C1669}" type="datetimeFigureOut">
              <a:rPr lang="pl-PL" smtClean="0"/>
              <a:pPr/>
              <a:t>26.02.2026</a:t>
            </a:fld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7AAF33-2ED2-4782-A1C3-EE4E52217266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AE89-D25A-4A67-AEBE-4E42F37C1669}" type="datetimeFigureOut">
              <a:rPr lang="pl-PL" smtClean="0"/>
              <a:pPr/>
              <a:t>26.02.2026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AF33-2ED2-4782-A1C3-EE4E5221726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AE89-D25A-4A67-AEBE-4E42F37C1669}" type="datetimeFigureOut">
              <a:rPr lang="pl-PL" smtClean="0"/>
              <a:pPr/>
              <a:t>26.02.2026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AF33-2ED2-4782-A1C3-EE4E5221726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0276AE89-D25A-4A67-AEBE-4E42F37C1669}" type="datetimeFigureOut">
              <a:rPr lang="pl-PL" smtClean="0"/>
              <a:pPr/>
              <a:t>26.02.2026</a:t>
            </a:fld>
            <a:endParaRPr lang="pl-PL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5A7AAF33-2ED2-4782-A1C3-EE4E52217266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cader@san.edu.p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476672"/>
            <a:ext cx="8280920" cy="6048672"/>
          </a:xfrm>
        </p:spPr>
        <p:txBody>
          <a:bodyPr>
            <a:normAutofit/>
          </a:bodyPr>
          <a:lstStyle/>
          <a:p>
            <a:pPr algn="l"/>
            <a:endParaRPr lang="pl-PL" sz="2600" dirty="0">
              <a:solidFill>
                <a:schemeClr val="bg1"/>
              </a:solidFill>
            </a:endParaRPr>
          </a:p>
          <a:p>
            <a:pPr algn="l"/>
            <a:endParaRPr lang="pl-PL" sz="2600" dirty="0">
              <a:solidFill>
                <a:schemeClr val="bg1"/>
              </a:solidFill>
            </a:endParaRPr>
          </a:p>
          <a:p>
            <a:pPr algn="l"/>
            <a:endParaRPr lang="pl-PL" sz="2600" dirty="0">
              <a:solidFill>
                <a:schemeClr val="bg1"/>
              </a:solidFill>
            </a:endParaRPr>
          </a:p>
          <a:p>
            <a:pPr algn="l"/>
            <a:endParaRPr lang="pl-PL" sz="2600" dirty="0">
              <a:solidFill>
                <a:schemeClr val="bg1"/>
              </a:solidFill>
            </a:endParaRPr>
          </a:p>
          <a:p>
            <a:pPr algn="l"/>
            <a:endParaRPr lang="pl-PL" sz="2600" dirty="0">
              <a:solidFill>
                <a:schemeClr val="bg1"/>
              </a:solidFill>
            </a:endParaRPr>
          </a:p>
          <a:p>
            <a:pPr algn="l"/>
            <a:endParaRPr lang="pl-PL" sz="2600" dirty="0">
              <a:solidFill>
                <a:schemeClr val="bg1"/>
              </a:solidFill>
            </a:endParaRPr>
          </a:p>
          <a:p>
            <a:pPr algn="l"/>
            <a:endParaRPr lang="pl-PL" sz="2600" dirty="0">
              <a:solidFill>
                <a:schemeClr val="bg1"/>
              </a:solidFill>
            </a:endParaRPr>
          </a:p>
          <a:p>
            <a:r>
              <a:rPr lang="pl-PL" sz="2600" dirty="0">
                <a:solidFill>
                  <a:schemeClr val="tx1"/>
                </a:solidFill>
              </a:rPr>
              <a:t>Prof. dr hab. inż. Andrzej Cader</a:t>
            </a:r>
          </a:p>
          <a:p>
            <a:r>
              <a:rPr lang="pl-PL" sz="2600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acader@san.edu.pl</a:t>
            </a:r>
            <a:endParaRPr lang="pl-PL" sz="2600" b="1" dirty="0">
              <a:solidFill>
                <a:schemeClr val="tx1"/>
              </a:solidFill>
            </a:endParaRPr>
          </a:p>
          <a:p>
            <a:pPr algn="l"/>
            <a:endParaRPr lang="pl-PL" sz="2400" dirty="0">
              <a:solidFill>
                <a:schemeClr val="bg1"/>
              </a:solidFill>
            </a:endParaRPr>
          </a:p>
          <a:p>
            <a:pPr algn="l"/>
            <a:endParaRPr lang="pl-PL" sz="2400" dirty="0">
              <a:solidFill>
                <a:schemeClr val="bg1"/>
              </a:solidFill>
            </a:endParaRPr>
          </a:p>
          <a:p>
            <a:pPr algn="l"/>
            <a:endParaRPr lang="pl-PL" sz="2400" dirty="0">
              <a:solidFill>
                <a:schemeClr val="bg1"/>
              </a:solidFill>
            </a:endParaRPr>
          </a:p>
          <a:p>
            <a:pPr algn="l"/>
            <a:endParaRPr lang="pl-PL" sz="2400" dirty="0">
              <a:solidFill>
                <a:schemeClr val="bg1"/>
              </a:solidFill>
            </a:endParaRPr>
          </a:p>
          <a:p>
            <a:pPr algn="l"/>
            <a:endParaRPr lang="pl-PL" sz="2400" dirty="0">
              <a:solidFill>
                <a:schemeClr val="bg1"/>
              </a:solidFill>
            </a:endParaRPr>
          </a:p>
          <a:p>
            <a:pPr algn="l"/>
            <a:endParaRPr lang="pl-PL" sz="2400" dirty="0">
              <a:solidFill>
                <a:schemeClr val="bg1"/>
              </a:solidFill>
            </a:endParaRPr>
          </a:p>
          <a:p>
            <a:pPr algn="l"/>
            <a:endParaRPr lang="pl-PL" sz="2400" dirty="0">
              <a:solidFill>
                <a:schemeClr val="bg1"/>
              </a:solidFill>
            </a:endParaRPr>
          </a:p>
          <a:p>
            <a:pPr algn="l"/>
            <a:endParaRPr lang="pl-PL" sz="2800" dirty="0">
              <a:solidFill>
                <a:schemeClr val="bg1"/>
              </a:solidFill>
            </a:endParaRPr>
          </a:p>
          <a:p>
            <a:pPr algn="l"/>
            <a:endParaRPr lang="pl-PL" sz="2800" dirty="0">
              <a:solidFill>
                <a:schemeClr val="bg1"/>
              </a:solidFill>
            </a:endParaRPr>
          </a:p>
          <a:p>
            <a:pPr algn="l"/>
            <a:endParaRPr lang="pl-PL" sz="2800" dirty="0">
              <a:solidFill>
                <a:schemeClr val="bg1"/>
              </a:solidFill>
            </a:endParaRPr>
          </a:p>
          <a:p>
            <a:pPr algn="l"/>
            <a:endParaRPr lang="pl-PL" sz="2800" dirty="0">
              <a:solidFill>
                <a:schemeClr val="bg1"/>
              </a:solidFill>
            </a:endParaRPr>
          </a:p>
          <a:p>
            <a:pPr algn="l"/>
            <a:endParaRPr lang="pl-PL" sz="2800" dirty="0">
              <a:solidFill>
                <a:schemeClr val="bg1"/>
              </a:solidFill>
            </a:endParaRPr>
          </a:p>
          <a:p>
            <a:pPr algn="l"/>
            <a:endParaRPr lang="pl-PL" sz="2800" dirty="0">
              <a:solidFill>
                <a:schemeClr val="bg1"/>
              </a:solidFill>
            </a:endParaRPr>
          </a:p>
          <a:p>
            <a:pPr algn="l"/>
            <a:endParaRPr lang="pl-PL" sz="2800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>
                <a:solidFill>
                  <a:srgbClr val="C00000"/>
                </a:solidFill>
              </a:rPr>
              <a:t>Projekt dyplomowy</a:t>
            </a:r>
          </a:p>
        </p:txBody>
      </p:sp>
    </p:spTree>
    <p:extLst>
      <p:ext uri="{BB962C8B-B14F-4D97-AF65-F5344CB8AC3E}">
        <p14:creationId xmlns:p14="http://schemas.microsoft.com/office/powerpoint/2010/main" val="3093065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688632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pl-PL" sz="2700" dirty="0"/>
              <a:t>Temat powinien być konkretny (praktyczny) i odnosić się do jasno wyodrębnionego zakresu.</a:t>
            </a:r>
          </a:p>
          <a:p>
            <a:pPr>
              <a:spcAft>
                <a:spcPts val="600"/>
              </a:spcAft>
            </a:pPr>
            <a:r>
              <a:rPr lang="pl-PL" sz="2700" dirty="0"/>
              <a:t>Problematyka projektu musi bezpośrednio odnosić się do kierunku studiów oraz wybranej przez studenta specjalności. </a:t>
            </a:r>
          </a:p>
          <a:p>
            <a:pPr>
              <a:spcAft>
                <a:spcPts val="600"/>
              </a:spcAft>
            </a:pPr>
            <a:r>
              <a:rPr lang="pl-PL" sz="2700" dirty="0"/>
              <a:t>Ustalenie tematu projektu jest dokonywane wspólnie przez promotora i dyplomanta w trakcie pierwszego semestru projektu dyplomowego. Przy ustalaniu tematu pracy dyplomowej należy brać pod uwagę:</a:t>
            </a:r>
          </a:p>
          <a:p>
            <a:pPr lvl="1">
              <a:spcAft>
                <a:spcPts val="600"/>
              </a:spcAft>
              <a:buNone/>
            </a:pPr>
            <a:r>
              <a:rPr lang="pl-PL" sz="2500" dirty="0"/>
              <a:t>• kierunek studiów, wybraną specjalność;</a:t>
            </a:r>
          </a:p>
          <a:p>
            <a:pPr lvl="1">
              <a:spcAft>
                <a:spcPts val="600"/>
              </a:spcAft>
              <a:buNone/>
            </a:pPr>
            <a:r>
              <a:rPr lang="pl-PL" sz="2500" dirty="0"/>
              <a:t>• treści i metody kształcenia na danym kierunku;</a:t>
            </a:r>
          </a:p>
          <a:p>
            <a:pPr lvl="1">
              <a:spcAft>
                <a:spcPts val="600"/>
              </a:spcAft>
              <a:buNone/>
            </a:pPr>
            <a:r>
              <a:rPr lang="pl-PL" sz="2500" dirty="0"/>
              <a:t>• zainteresowania studenta;</a:t>
            </a:r>
          </a:p>
          <a:p>
            <a:pPr lvl="1">
              <a:spcAft>
                <a:spcPts val="600"/>
              </a:spcAft>
              <a:buNone/>
            </a:pPr>
            <a:r>
              <a:rPr lang="pl-PL" sz="2500" dirty="0"/>
              <a:t>• możliwości wykonania danej pracy przez studenta.</a:t>
            </a:r>
          </a:p>
          <a:p>
            <a:pPr>
              <a:spcAft>
                <a:spcPts val="600"/>
              </a:spcAft>
            </a:pPr>
            <a:r>
              <a:rPr lang="pl-PL" sz="2700" dirty="0"/>
              <a:t>Zmiana tematu projektu dyplomowego wymaga zgody promotora i akceptacji dziekana.</a:t>
            </a:r>
          </a:p>
          <a:p>
            <a:pPr>
              <a:spcAft>
                <a:spcPts val="600"/>
              </a:spcAft>
            </a:pPr>
            <a:r>
              <a:rPr lang="pl-PL" sz="2700" dirty="0"/>
              <a:t>Na wniosek studenta praca może być przygotowana w języku obcym po uzyskaniu przez dyplomanta zgody promotora i dziekana. W zakresie informatyki może to być wyłącznie język angielski.</a:t>
            </a:r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68288"/>
          </a:xfrm>
        </p:spPr>
        <p:txBody>
          <a:bodyPr>
            <a:noAutofit/>
          </a:bodyPr>
          <a:lstStyle/>
          <a:p>
            <a:r>
              <a:rPr lang="pl-PL" sz="2800" dirty="0">
                <a:solidFill>
                  <a:schemeClr val="tx1"/>
                </a:solidFill>
              </a:rPr>
              <a:t>Temat projektu dyplomowego inżynierskiego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57200" y="620688"/>
            <a:ext cx="8291264" cy="59766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l-PL" sz="1600" dirty="0"/>
              <a:t>1. Praca dyplomowa musi dotyczyć dokładnie sprecyzowanego problemu, co winno mieć</a:t>
            </a:r>
          </a:p>
          <a:p>
            <a:pPr>
              <a:buNone/>
            </a:pPr>
            <a:r>
              <a:rPr lang="pl-PL" sz="1600" dirty="0"/>
              <a:t>	odzwierciedlenie w tytule pracy.</a:t>
            </a:r>
          </a:p>
          <a:p>
            <a:pPr>
              <a:buNone/>
            </a:pPr>
            <a:r>
              <a:rPr lang="pl-PL" sz="1600" dirty="0"/>
              <a:t>2. Tytuł pracy, tytuły rozdziałów i podrozdziałów powinny odpowiadać zamieszczonym w pracy treściom i kolejno z siebie wynikać, umożliwiając pogłębianie poruszanych rozważań, w końcowej części pracy doprowadzić do syntezy i uogólnień.</a:t>
            </a:r>
          </a:p>
          <a:p>
            <a:pPr>
              <a:buNone/>
            </a:pPr>
            <a:r>
              <a:rPr lang="pl-PL" sz="1600" dirty="0"/>
              <a:t>3. Szczegółowy zakres pracy ustala promotor z dyplomantem. Student odpowiada za poprawność merytoryczna, redakcyjna, edytorska, językowa i stylistyczna pracy. Odpowiedzialny jest on również za sposób i uczciwość cytowania oraz za przestrzeganie praw autorskich.</a:t>
            </a:r>
          </a:p>
          <a:p>
            <a:pPr>
              <a:buNone/>
            </a:pPr>
            <a:r>
              <a:rPr lang="pl-PL" sz="1600" dirty="0"/>
              <a:t>4. Rozmiar pracy dyplomowej powinien wynikać z wyczerpującego opracowania tematu. Jako zasadę ogólną należy przyjąć, że objętość części zasadniczej pracy inżynierskiej powinna wynosić 50-80. Liczba pozycji literatury przedmiotu wykorzystanych w pracy nie powinna być nisza niż: w przypadku pracy inżynierskiej 15 pozycji.</a:t>
            </a:r>
          </a:p>
          <a:p>
            <a:pPr>
              <a:buNone/>
            </a:pPr>
            <a:r>
              <a:rPr lang="pl-PL" sz="1600" dirty="0"/>
              <a:t>5. W pracy konieczne jest zachowanie dbałości o naukowy charakter pracy, a w szczególności</a:t>
            </a:r>
          </a:p>
          <a:p>
            <a:pPr marL="180000">
              <a:spcBef>
                <a:spcPts val="0"/>
              </a:spcBef>
              <a:buNone/>
            </a:pPr>
            <a:r>
              <a:rPr lang="pl-PL" sz="1600" dirty="0"/>
              <a:t>	zachowanie dokładności faktów, obiektywizmu poglądów, definiowania pojęć w oparciu o różne źródła, zachowanie opisu materiałów umożliwiającego odróżnienie faktów i wnioskowania autora pracy od cudzych, stosowanie przypisów i odnośników do literatury przedmiotu oraz poprawność językowa i stylistyczna tekstu.</a:t>
            </a:r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68288"/>
          </a:xfrm>
        </p:spPr>
        <p:txBody>
          <a:bodyPr>
            <a:normAutofit fontScale="90000"/>
          </a:bodyPr>
          <a:lstStyle/>
          <a:p>
            <a:r>
              <a:rPr lang="pl-PL" sz="2800" b="1" dirty="0">
                <a:solidFill>
                  <a:schemeClr val="tx1"/>
                </a:solidFill>
              </a:rPr>
              <a:t>Wymogi merytoryczne stawiane pracy dyplomowej</a:t>
            </a:r>
            <a:endParaRPr lang="pl-PL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57200" y="620688"/>
            <a:ext cx="8291264" cy="5976664"/>
          </a:xfrm>
        </p:spPr>
        <p:txBody>
          <a:bodyPr>
            <a:noAutofit/>
          </a:bodyPr>
          <a:lstStyle/>
          <a:p>
            <a:pPr>
              <a:buNone/>
            </a:pPr>
            <a:endParaRPr lang="pl-PL" sz="1400" dirty="0"/>
          </a:p>
          <a:p>
            <a:pPr>
              <a:buNone/>
            </a:pPr>
            <a:r>
              <a:rPr lang="pl-PL" sz="1600" dirty="0"/>
              <a:t>9. Praca powinna być napisana poprawnie językowo, bez błędów gramatycznych i stylistycznych. Promotor ma prawo nie przyjąć pracy z istotnymi błędami merytorycznymi, formalnymi, gramatycznymi i stylistycznymi. Prawo dyskwalifikacji takich prac przysługuje równie recenzentowi i komisji egzaminu dyplomowego.</a:t>
            </a:r>
          </a:p>
          <a:p>
            <a:pPr>
              <a:buNone/>
            </a:pPr>
            <a:r>
              <a:rPr lang="pl-PL" sz="1600" dirty="0"/>
              <a:t>10. Praca składana do dziekanatu musi zawierać oświadczenie autora, że została przygotowana samodzielnie oraz oświadczenie dotyczące zgody lub jej braku na udostępnianie pracy. Z pracą w formie drukowanej składana jest do Dziekanatu wersja elektroniczna w formie pliku MS WORD, w celu umożliwienia sprawdzenia przez system </a:t>
            </a:r>
            <a:r>
              <a:rPr lang="pl-PL" sz="1600" dirty="0" err="1"/>
              <a:t>antyplagiatowy</a:t>
            </a:r>
            <a:r>
              <a:rPr lang="pl-PL" sz="1600" dirty="0"/>
              <a:t>. Zaleca się w przypadku dużej ilości załączników zawierających akty prawne przygotowanie dodatkowo na płycie wersji pracy bez załączników.</a:t>
            </a:r>
          </a:p>
          <a:p>
            <a:pPr>
              <a:buNone/>
            </a:pPr>
            <a:r>
              <a:rPr lang="pl-PL" sz="1600" dirty="0"/>
              <a:t>12 Praca nie może nosić cech plagiatu. Niedopuszczalne jest zbyt długie cytowanie i nadmierne wykorzystywanie jednego źródła, pracy jednego autora. Nie wolno wykorzystywać (także, ze zmianami redakcyjnymi) cudzych tekstów bez podania źródła.</a:t>
            </a:r>
          </a:p>
          <a:p>
            <a:pPr>
              <a:buNone/>
            </a:pPr>
            <a:r>
              <a:rPr lang="pl-PL" sz="1600" dirty="0"/>
              <a:t>13. Każda złożona do obrony praca podlega sprawdzeniu </a:t>
            </a:r>
            <a:r>
              <a:rPr lang="pl-PL" sz="1600" dirty="0" err="1"/>
              <a:t>antyplagiatowemu</a:t>
            </a:r>
            <a:r>
              <a:rPr lang="pl-PL" sz="1600" dirty="0"/>
              <a:t>. Prace dyplomowe nie spełniające kryteriów, nie mogą być dopuszczone do egzaminu dyplomowego</a:t>
            </a:r>
          </a:p>
          <a:p>
            <a:pPr>
              <a:buNone/>
            </a:pPr>
            <a:endParaRPr lang="pl-PL" sz="1400" dirty="0"/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68288"/>
          </a:xfrm>
        </p:spPr>
        <p:txBody>
          <a:bodyPr>
            <a:normAutofit fontScale="90000"/>
          </a:bodyPr>
          <a:lstStyle/>
          <a:p>
            <a:r>
              <a:rPr lang="pl-PL" sz="2800" b="1" dirty="0">
                <a:solidFill>
                  <a:schemeClr val="tx1"/>
                </a:solidFill>
              </a:rPr>
              <a:t>Wymogi merytoryczne stawiane pracy dyplomowej</a:t>
            </a:r>
            <a:endParaRPr lang="pl-PL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457200" y="620688"/>
            <a:ext cx="8291264" cy="5976664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pl-PL" dirty="0"/>
              <a:t>Praca powinna zawierać następujące elementy.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None/>
            </a:pPr>
            <a:r>
              <a:rPr lang="pl-PL" dirty="0">
                <a:solidFill>
                  <a:schemeClr val="tx1"/>
                </a:solidFill>
              </a:rPr>
              <a:t>• Tytuł pracy – strona tytułowa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None/>
            </a:pPr>
            <a:r>
              <a:rPr lang="pl-PL" dirty="0">
                <a:solidFill>
                  <a:schemeClr val="tx1"/>
                </a:solidFill>
              </a:rPr>
              <a:t>• Spis treści z numeracją stron.</a:t>
            </a:r>
          </a:p>
          <a:p>
            <a:pPr marL="358775" lvl="1" indent="7938">
              <a:spcBef>
                <a:spcPts val="0"/>
              </a:spcBef>
              <a:spcAft>
                <a:spcPts val="1200"/>
              </a:spcAft>
              <a:buNone/>
            </a:pPr>
            <a:r>
              <a:rPr lang="pl-PL" dirty="0">
                <a:solidFill>
                  <a:schemeClr val="tx1"/>
                </a:solidFill>
              </a:rPr>
              <a:t>• Wstęp, obejmujący krótkie wprowadzenie i uzasadnienie wyboru tematu pracy oraz wskazanie </a:t>
            </a:r>
            <a:r>
              <a:rPr lang="pl-PL" b="1" dirty="0">
                <a:solidFill>
                  <a:schemeClr val="tx1"/>
                </a:solidFill>
              </a:rPr>
              <a:t>celu </a:t>
            </a:r>
            <a:r>
              <a:rPr lang="pl-PL" dirty="0">
                <a:solidFill>
                  <a:schemeClr val="tx1"/>
                </a:solidFill>
              </a:rPr>
              <a:t>pracy i metod stosowanych w pracy; a także ukazanie struktury pracy oraz wykorzystanych źródeł.</a:t>
            </a:r>
          </a:p>
          <a:p>
            <a:pPr marL="358775" lvl="1" indent="7938">
              <a:spcBef>
                <a:spcPts val="0"/>
              </a:spcBef>
              <a:spcAft>
                <a:spcPts val="1200"/>
              </a:spcAft>
              <a:buNone/>
            </a:pPr>
            <a:r>
              <a:rPr lang="pl-PL" dirty="0">
                <a:solidFill>
                  <a:schemeClr val="tx1"/>
                </a:solidFill>
              </a:rPr>
              <a:t>• Rozdział(y) teoretyczne, w których dyplomant powinien wykazać się wiedzą teoretyczną z zakresu analizowanego zagadnienia lub problemu badawczego oraz znajomością literatury przedmiotu.</a:t>
            </a:r>
          </a:p>
          <a:p>
            <a:pPr marL="358775" lvl="1" indent="7938">
              <a:spcBef>
                <a:spcPts val="0"/>
              </a:spcBef>
              <a:spcAft>
                <a:spcPts val="1200"/>
              </a:spcAft>
              <a:buNone/>
            </a:pPr>
            <a:r>
              <a:rPr lang="pl-PL" dirty="0">
                <a:solidFill>
                  <a:schemeClr val="tx1"/>
                </a:solidFill>
              </a:rPr>
              <a:t>• Rozdział(y) praktyczne – oryginalne stanowiące treść projektu oraz jego analizę, stosowane techniki i narzędzia, analizę wyników</a:t>
            </a:r>
          </a:p>
          <a:p>
            <a:pPr marL="358775" lvl="1" indent="7938">
              <a:spcBef>
                <a:spcPts val="0"/>
              </a:spcBef>
              <a:spcAft>
                <a:spcPts val="1200"/>
              </a:spcAft>
              <a:buNone/>
            </a:pPr>
            <a:r>
              <a:rPr lang="pl-PL" dirty="0">
                <a:solidFill>
                  <a:schemeClr val="tx1"/>
                </a:solidFill>
              </a:rPr>
              <a:t>• Podsumowanie - jest to obszerne streszczenie pracy (min. 3 pełne strony).</a:t>
            </a:r>
          </a:p>
          <a:p>
            <a:pPr marL="358775" lvl="1" indent="7938">
              <a:spcBef>
                <a:spcPts val="0"/>
              </a:spcBef>
              <a:spcAft>
                <a:spcPts val="1200"/>
              </a:spcAft>
              <a:buNone/>
            </a:pPr>
            <a:r>
              <a:rPr lang="pl-PL" dirty="0">
                <a:solidFill>
                  <a:schemeClr val="tx1"/>
                </a:solidFill>
              </a:rPr>
              <a:t>• Bibliografia – obejmująca wykaz źródeł cytowanych w pracy. Spis literatury powinien być numerowany.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None/>
            </a:pPr>
            <a:r>
              <a:rPr lang="pl-PL" dirty="0">
                <a:solidFill>
                  <a:schemeClr val="tx1"/>
                </a:solidFill>
              </a:rPr>
              <a:t>• Spisy tabel, rysunków, itp., o ile wykaz zawiera co najmniej 5 pozycji.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None/>
            </a:pPr>
            <a:r>
              <a:rPr lang="pl-PL" dirty="0">
                <a:solidFill>
                  <a:schemeClr val="tx1"/>
                </a:solidFill>
              </a:rPr>
              <a:t>• Załączniki (o ile występują w pracy).</a:t>
            </a:r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68288"/>
          </a:xfrm>
        </p:spPr>
        <p:txBody>
          <a:bodyPr>
            <a:normAutofit fontScale="90000"/>
          </a:bodyPr>
          <a:lstStyle/>
          <a:p>
            <a:r>
              <a:rPr lang="pl-PL" sz="2800" b="1" dirty="0">
                <a:solidFill>
                  <a:schemeClr val="tx1"/>
                </a:solidFill>
              </a:rPr>
              <a:t>Wymogi merytoryczne stawiane pracy dyplomowej</a:t>
            </a:r>
            <a:endParaRPr lang="pl-PL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 descr="Obraz zawierający tekst, zrzut ekranu, dokument, Czcionka&#10;&#10;Zawartość wygenerowana przez AI może być niepoprawna.">
            <a:extLst>
              <a:ext uri="{FF2B5EF4-FFF2-40B4-BE49-F238E27FC236}">
                <a16:creationId xmlns:a16="http://schemas.microsoft.com/office/drawing/2014/main" id="{A5BD0AEE-FFEC-E6B9-134F-87BFBDC9EB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9752" y="262019"/>
            <a:ext cx="3888432" cy="618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424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ymbol zastępczy zawartości 5" descr="Obraz zawierający tekst, zrzut ekranu, dokument, Czcionka&#10;&#10;Zawartość wygenerowana przez AI może być niepoprawna.">
            <a:extLst>
              <a:ext uri="{FF2B5EF4-FFF2-40B4-BE49-F238E27FC236}">
                <a16:creationId xmlns:a16="http://schemas.microsoft.com/office/drawing/2014/main" id="{BFB8B2A8-324B-3B2B-D618-F2BEE0C25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1911" y="373771"/>
            <a:ext cx="7413121" cy="586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195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 descr="Obraz zawierający tekst, zrzut ekranu, dokument, Czcionka&#10;&#10;Zawartość wygenerowana przez AI może być niepoprawna.">
            <a:extLst>
              <a:ext uri="{FF2B5EF4-FFF2-40B4-BE49-F238E27FC236}">
                <a16:creationId xmlns:a16="http://schemas.microsoft.com/office/drawing/2014/main" id="{22E95FD7-BCAB-5202-B659-CA158F10AA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3740" y="193093"/>
            <a:ext cx="6474604" cy="625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41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/>
          <p:cNvSpPr>
            <a:spLocks noGrp="1"/>
          </p:cNvSpPr>
          <p:nvPr>
            <p:ph idx="1"/>
          </p:nvPr>
        </p:nvSpPr>
        <p:spPr>
          <a:xfrm>
            <a:off x="323528" y="620688"/>
            <a:ext cx="8291264" cy="59766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l-PL" sz="1200" dirty="0"/>
              <a:t>1. Praca powinna mieć formę wydruku komputerowego na papierze formatu A4 i być napisana w edytorze tekstu MS Word czcionką 12 pkt. Z interlinią 1,5</a:t>
            </a:r>
          </a:p>
          <a:p>
            <a:pPr>
              <a:buNone/>
            </a:pPr>
            <a:r>
              <a:rPr lang="pl-PL" sz="1200" dirty="0"/>
              <a:t>2. W tekście nie może być pustych linii ani pustych pól. Rysunki należy tak wkomponować w tekst aby na stronie nie było pustych miejsc</a:t>
            </a:r>
          </a:p>
          <a:p>
            <a:pPr>
              <a:buNone/>
            </a:pPr>
            <a:r>
              <a:rPr lang="pl-PL" sz="1200" dirty="0"/>
              <a:t>3. Obowiązuje wyjustowanie tekstu zasadniczego (wyrównanie tekstów obu marginesów) z </a:t>
            </a:r>
            <a:r>
              <a:rPr lang="pl-PL" sz="1200" b="1" dirty="0"/>
              <a:t>dzieleniem wyrazów</a:t>
            </a:r>
            <a:r>
              <a:rPr lang="pl-PL" sz="1200" dirty="0"/>
              <a:t>. Justowanie nie dotyczy nagłówków, bibliografii, podpisów pod rysunkami i tabelami</a:t>
            </a:r>
          </a:p>
          <a:p>
            <a:pPr>
              <a:buNone/>
            </a:pPr>
            <a:r>
              <a:rPr lang="pl-PL" sz="1200" dirty="0"/>
              <a:t>4. W pracy dyplomowej do dodatkowych wyjaśnień stosuje sie przypisy dolne, które winny mieć numerację ciągłą, a dla ich oznaczenia używa sie wyłącznie cyfr arabskich. </a:t>
            </a:r>
            <a:r>
              <a:rPr lang="pl-PL" sz="1200" b="1" dirty="0"/>
              <a:t>Przypisów dolnych nie stosuje się do podawania źródeł</a:t>
            </a:r>
            <a:r>
              <a:rPr lang="pl-PL" sz="1200" dirty="0"/>
              <a:t>. Źródła cytujemy w tekście podając w nawiasach kwadratowych nr pozycji z Bibliografii. </a:t>
            </a:r>
          </a:p>
          <a:p>
            <a:pPr>
              <a:buNone/>
            </a:pPr>
            <a:r>
              <a:rPr lang="pl-PL" sz="1200" dirty="0"/>
              <a:t>5. Marginesy powinny być na </a:t>
            </a:r>
            <a:r>
              <a:rPr lang="pl-PL" sz="1200" b="1" dirty="0"/>
              <a:t>każdej stronie jednakowe</a:t>
            </a:r>
            <a:r>
              <a:rPr lang="pl-PL" sz="1200" dirty="0"/>
              <a:t>: lewy 3 cm, prawy 2 cm, górny i dolny 2,5 </a:t>
            </a:r>
            <a:r>
              <a:rPr lang="pl-PL" sz="1200" dirty="0" err="1"/>
              <a:t>cm</a:t>
            </a:r>
            <a:r>
              <a:rPr lang="pl-PL" sz="1200" dirty="0"/>
              <a:t>.</a:t>
            </a:r>
          </a:p>
          <a:p>
            <a:pPr>
              <a:buNone/>
            </a:pPr>
            <a:r>
              <a:rPr lang="pl-PL" sz="1200" dirty="0"/>
              <a:t>6. Każdy akapit rozpoczyna sie wcięciem 1,25. </a:t>
            </a:r>
            <a:r>
              <a:rPr lang="pl-PL" sz="1200" b="1" dirty="0"/>
              <a:t>Odstęp pomiędzy akapitami może być zwiększony maksymalnie o 4 pkt. Dotyczy to również numeratorów i </a:t>
            </a:r>
            <a:r>
              <a:rPr lang="pl-PL" sz="1200" b="1" dirty="0" err="1"/>
              <a:t>punktorów</a:t>
            </a:r>
            <a:r>
              <a:rPr lang="pl-PL" sz="1200" b="1" dirty="0"/>
              <a:t>.</a:t>
            </a:r>
          </a:p>
          <a:p>
            <a:pPr>
              <a:buNone/>
            </a:pPr>
            <a:r>
              <a:rPr lang="pl-PL" sz="1200" dirty="0"/>
              <a:t>7. Rozdział i inna część pracy jemu równa (np. wstęp, podsumowanie, bibliografia) powinna rozpoczynać się od nowej strony (podrozdziały nie). Tytuły rozdziałów i podrozdziałów piszemy większą (wyróżnioną) czcionką z zachowaniem hierarchii rozdziałów i podrozdziałów.</a:t>
            </a:r>
          </a:p>
          <a:p>
            <a:pPr>
              <a:buNone/>
            </a:pPr>
            <a:r>
              <a:rPr lang="pl-PL" sz="1200" dirty="0"/>
              <a:t>8. Przed tytułem podrozdziału wstawiamy pustą linię w tekście, </a:t>
            </a:r>
            <a:r>
              <a:rPr lang="pl-PL" sz="1200" b="1" dirty="0"/>
              <a:t>po nie</a:t>
            </a:r>
            <a:r>
              <a:rPr lang="pl-PL" sz="1200" dirty="0"/>
              <a:t>.</a:t>
            </a:r>
          </a:p>
          <a:p>
            <a:pPr>
              <a:buNone/>
            </a:pPr>
            <a:r>
              <a:rPr lang="pl-PL" sz="1200" dirty="0"/>
              <a:t>9. Przy przytaczaniu Internetu, jako źródła w przypisie należy podać adres internetowy oraz w nawiasie datę korzystania z tego źródła.</a:t>
            </a:r>
          </a:p>
          <a:p>
            <a:pPr>
              <a:buNone/>
            </a:pPr>
            <a:r>
              <a:rPr lang="pl-PL" sz="1200" dirty="0"/>
              <a:t>10. Tabele i rysunki, w całym opracowaniu powinny być opisywane w sposób jednolity. Nad tabelą wpisywany jest numer oraz jej nazwa, pod nią źródło, z którego zaczerpnięto dane w niej zamieszczone. Opis rysunku zamieszczamy pod nim wraz ze źródłem. W obu przypadkach podpisy czcionką 10 pkt. Tabele i rysunki muszą być obszerniej opisane w tekście.</a:t>
            </a:r>
          </a:p>
          <a:p>
            <a:pPr>
              <a:buNone/>
            </a:pPr>
            <a:r>
              <a:rPr lang="pl-PL" sz="1200" dirty="0"/>
              <a:t>11. Tabele i rysunki oddzielamy jedną pustą linią od tekstu.</a:t>
            </a:r>
          </a:p>
          <a:p>
            <a:pPr>
              <a:buNone/>
            </a:pPr>
            <a:r>
              <a:rPr lang="pl-PL" sz="1200" dirty="0"/>
              <a:t>12 W tekście nie mogą występować ślepe nagłówki – nagłówki nie wymienione w spisie treści. Praca powinna być napisana tak by tekst był ciągły – następne zdanie wynika z poprzedniego. Wytłuszczone mogą być tylko tytuły rozdziałów i podrozdziałów</a:t>
            </a:r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68288"/>
          </a:xfrm>
        </p:spPr>
        <p:txBody>
          <a:bodyPr>
            <a:normAutofit fontScale="90000"/>
          </a:bodyPr>
          <a:lstStyle/>
          <a:p>
            <a:r>
              <a:rPr lang="pl-PL" sz="2800" b="1" dirty="0">
                <a:solidFill>
                  <a:schemeClr val="tx1"/>
                </a:solidFill>
              </a:rPr>
              <a:t>Wymogi edytorskie stawiane pracy dyplomowej</a:t>
            </a:r>
            <a:endParaRPr lang="pl-PL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9" y="188640"/>
            <a:ext cx="4994400" cy="648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46317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51645"/>
            <a:ext cx="8785225" cy="6065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9467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9552" y="188640"/>
            <a:ext cx="8229600" cy="6480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3200" b="1" dirty="0"/>
              <a:t>Bibliografia</a:t>
            </a:r>
          </a:p>
          <a:p>
            <a:pPr marL="0" indent="0">
              <a:buNone/>
            </a:pPr>
            <a:endParaRPr lang="pl-PL" sz="3200" b="1" dirty="0">
              <a:solidFill>
                <a:schemeClr val="bg1"/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908720"/>
            <a:ext cx="9145016" cy="1996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88204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8EF8389EF1E55489A9C838CB991686F" ma:contentTypeVersion="0" ma:contentTypeDescription="Utwórz nowy dokument." ma:contentTypeScope="" ma:versionID="585033fea737d5a6a45f5b924e7eb68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58407e99af425f499b730f67c7bf4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D9B843-13E3-475D-9C7F-D220B38014D8}"/>
</file>

<file path=customXml/itemProps2.xml><?xml version="1.0" encoding="utf-8"?>
<ds:datastoreItem xmlns:ds="http://schemas.openxmlformats.org/officeDocument/2006/customXml" ds:itemID="{4B6E4272-58CA-4788-B51D-46C3DA763514}"/>
</file>

<file path=customXml/itemProps3.xml><?xml version="1.0" encoding="utf-8"?>
<ds:datastoreItem xmlns:ds="http://schemas.openxmlformats.org/officeDocument/2006/customXml" ds:itemID="{E3FA347D-2C34-4028-A365-5E76780E8C1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995</TotalTime>
  <Words>1083</Words>
  <Application>Microsoft Office PowerPoint</Application>
  <PresentationFormat>Pokaz na ekranie (4:3)</PresentationFormat>
  <Paragraphs>71</Paragraphs>
  <Slides>12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5" baseType="lpstr">
      <vt:lpstr>Constantia</vt:lpstr>
      <vt:lpstr>Wingdings 2</vt:lpstr>
      <vt:lpstr>Theme1</vt:lpstr>
      <vt:lpstr>Projekt dyplomowy</vt:lpstr>
      <vt:lpstr>Temat projektu dyplomowego inżynierskiego</vt:lpstr>
      <vt:lpstr>Wymogi merytoryczne stawiane pracy dyplomowej</vt:lpstr>
      <vt:lpstr>Wymogi merytoryczne stawiane pracy dyplomowej</vt:lpstr>
      <vt:lpstr>Wymogi merytoryczne stawiane pracy dyplomowej</vt:lpstr>
      <vt:lpstr>Prezentacja programu PowerPoint</vt:lpstr>
      <vt:lpstr>Prezentacja programu PowerPoint</vt:lpstr>
      <vt:lpstr>Prezentacja programu PowerPoint</vt:lpstr>
      <vt:lpstr>Wymogi edytorskie stawiane pracy dyplomowej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Seminarium dyplomowe</dc:title>
  <dc:creator>Andrzej</dc:creator>
  <cp:lastModifiedBy>Cader Andrzej</cp:lastModifiedBy>
  <cp:revision>93</cp:revision>
  <dcterms:created xsi:type="dcterms:W3CDTF">2010-10-02T14:17:41Z</dcterms:created>
  <dcterms:modified xsi:type="dcterms:W3CDTF">2026-02-26T10:04:53Z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0x010100E8EF8389EF1E55489A9C838CB991686F</vt:lpwstr>
  </property>
</Properties>
</file>